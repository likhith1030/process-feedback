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embeddedFontLst>
    <p:embeddedFont>
      <p:font typeface="Inter" panose="02000503000000020004" pitchFamily="2" charset="0"/>
      <p:regular r:id="rId13"/>
      <p:bold r:id="rId14"/>
      <p:italic r:id="rId15"/>
      <p:boldItalic r:id="rId1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1"/>
    <p:restoredTop sz="94682"/>
  </p:normalViewPr>
  <p:slideViewPr>
    <p:cSldViewPr snapToGrid="0">
      <p:cViewPr varScale="1">
        <p:scale>
          <a:sx n="111" d="100"/>
          <a:sy n="111" d="100"/>
        </p:scale>
        <p:origin x="568" y="19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" name="Google Shape;16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97" name="Google Shape;19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" name="Google Shape;21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7" name="Google Shape;237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1" name="Google Shape;251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3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22.png"/><Relationship Id="rId3" Type="http://schemas.openxmlformats.org/officeDocument/2006/relationships/image" Target="../media/image3.png"/><Relationship Id="rId7" Type="http://schemas.openxmlformats.org/officeDocument/2006/relationships/image" Target="../media/image16.png"/><Relationship Id="rId12" Type="http://schemas.openxmlformats.org/officeDocument/2006/relationships/image" Target="../media/image2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11" Type="http://schemas.openxmlformats.org/officeDocument/2006/relationships/image" Target="../media/image20.png"/><Relationship Id="rId5" Type="http://schemas.openxmlformats.org/officeDocument/2006/relationships/image" Target="../media/image14.png"/><Relationship Id="rId15" Type="http://schemas.openxmlformats.org/officeDocument/2006/relationships/image" Target="../media/image24.png"/><Relationship Id="rId10" Type="http://schemas.openxmlformats.org/officeDocument/2006/relationships/image" Target="../media/image19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Relationship Id="rId14" Type="http://schemas.openxmlformats.org/officeDocument/2006/relationships/image" Target="../media/image2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3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3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5.png"/><Relationship Id="rId9" Type="http://schemas.openxmlformats.org/officeDocument/2006/relationships/image" Target="../media/image3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3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image" Target="../media/image3.png"/><Relationship Id="rId7" Type="http://schemas.openxmlformats.org/officeDocument/2006/relationships/image" Target="../media/image4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1.png"/><Relationship Id="rId11" Type="http://schemas.openxmlformats.org/officeDocument/2006/relationships/image" Target="../media/image46.png"/><Relationship Id="rId5" Type="http://schemas.openxmlformats.org/officeDocument/2006/relationships/image" Target="../media/image40.png"/><Relationship Id="rId10" Type="http://schemas.openxmlformats.org/officeDocument/2006/relationships/image" Target="../media/image45.png"/><Relationship Id="rId4" Type="http://schemas.openxmlformats.org/officeDocument/2006/relationships/image" Target="../media/image39.png"/><Relationship Id="rId9" Type="http://schemas.openxmlformats.org/officeDocument/2006/relationships/image" Target="../media/image4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5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067175" y="4073723"/>
            <a:ext cx="4057650" cy="1457325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295275" y="1326951"/>
            <a:ext cx="11601450" cy="1508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>
                <a:solidFill>
                  <a:srgbClr val="003F81"/>
                </a:solidFill>
                <a:latin typeface="Inter"/>
                <a:ea typeface="Inter"/>
                <a:cs typeface="Inter"/>
                <a:sym typeface="Inter"/>
              </a:rPr>
              <a:t>Process Feedback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5400" b="1" i="0" u="none" strike="noStrike" cap="none">
                <a:solidFill>
                  <a:srgbClr val="027DFF"/>
                </a:solidFill>
                <a:latin typeface="Inter"/>
                <a:ea typeface="Inter"/>
                <a:cs typeface="Inter"/>
                <a:sym typeface="Inter"/>
              </a:rPr>
              <a:t>Website Clone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571500" y="3140273"/>
            <a:ext cx="11049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03F81"/>
                </a:solidFill>
                <a:latin typeface="Inter"/>
                <a:ea typeface="Inter"/>
                <a:cs typeface="Inter"/>
                <a:sym typeface="Inter"/>
              </a:rPr>
              <a:t>Midterm Project Status Review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4067175" y="4388048"/>
            <a:ext cx="405765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213547"/>
                </a:solidFill>
                <a:latin typeface="Inter"/>
                <a:ea typeface="Inter"/>
                <a:cs typeface="Inter"/>
                <a:sym typeface="Inter"/>
              </a:rPr>
              <a:t>Team Members:</a:t>
            </a:r>
            <a:r>
              <a:rPr lang="en-US" sz="1500" b="0" i="0" u="none" strike="noStrike" cap="none">
                <a:solidFill>
                  <a:srgbClr val="213547"/>
                </a:solidFill>
                <a:latin typeface="Inter"/>
                <a:ea typeface="Inter"/>
                <a:cs typeface="Inter"/>
                <a:sym typeface="Inter"/>
              </a:rPr>
              <a:t> Sai, Nora, Nick, Eddie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4067175" y="4673798"/>
            <a:ext cx="405765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213547"/>
                </a:solidFill>
                <a:latin typeface="Inter"/>
                <a:ea typeface="Inter"/>
                <a:cs typeface="Inter"/>
                <a:sym typeface="Inter"/>
              </a:rPr>
              <a:t>Course:</a:t>
            </a:r>
            <a:r>
              <a:rPr lang="en-US" sz="1500" b="0" i="0" u="none" strike="noStrike" cap="none">
                <a:solidFill>
                  <a:srgbClr val="213547"/>
                </a:solidFill>
                <a:latin typeface="Inter"/>
                <a:ea typeface="Inter"/>
                <a:cs typeface="Inter"/>
                <a:sym typeface="Inter"/>
              </a:rPr>
              <a:t> Software Engineering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4067175" y="4959548"/>
            <a:ext cx="405765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213547"/>
                </a:solidFill>
                <a:latin typeface="Inter"/>
                <a:ea typeface="Inter"/>
                <a:cs typeface="Inter"/>
                <a:sym typeface="Inter"/>
              </a:rPr>
              <a:t>University:</a:t>
            </a:r>
            <a:r>
              <a:rPr lang="en-US" sz="1500" b="0" i="0" u="none" strike="noStrike" cap="none">
                <a:solidFill>
                  <a:srgbClr val="213547"/>
                </a:solidFill>
                <a:latin typeface="Inter"/>
                <a:ea typeface="Inter"/>
                <a:cs typeface="Inter"/>
                <a:sym typeface="Inter"/>
              </a:rPr>
              <a:t> University of Missouri - St. Louis</a:t>
            </a:r>
            <a:endParaRPr/>
          </a:p>
        </p:txBody>
      </p:sp>
      <p:sp>
        <p:nvSpPr>
          <p:cNvPr id="91" name="Google Shape;91;p13"/>
          <p:cNvSpPr txBox="1"/>
          <p:nvPr/>
        </p:nvSpPr>
        <p:spPr>
          <a:xfrm>
            <a:off x="4067175" y="5245298"/>
            <a:ext cx="405765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213547"/>
                </a:solidFill>
                <a:latin typeface="Inter"/>
                <a:ea typeface="Inter"/>
                <a:cs typeface="Inter"/>
                <a:sym typeface="Inter"/>
              </a:rPr>
              <a:t>Date:</a:t>
            </a:r>
            <a:r>
              <a:rPr lang="en-US" sz="1500" b="0" i="0" u="none" strike="noStrike" cap="none">
                <a:solidFill>
                  <a:srgbClr val="213547"/>
                </a:solidFill>
                <a:latin typeface="Inter"/>
                <a:ea typeface="Inter"/>
                <a:cs typeface="Inter"/>
                <a:sym typeface="Inter"/>
              </a:rPr>
              <a:t> Today</a:t>
            </a:r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11744325" y="6381750"/>
            <a:ext cx="6667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88C0F9"/>
                </a:solidFill>
                <a:latin typeface="Inter"/>
                <a:ea typeface="Inter"/>
                <a:cs typeface="Inter"/>
                <a:sym typeface="Inter"/>
              </a:rPr>
              <a:t>1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Google Shape;97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465808"/>
            <a:ext cx="5238750" cy="628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1750" y="1981200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4"/>
          <p:cNvSpPr txBox="1"/>
          <p:nvPr/>
        </p:nvSpPr>
        <p:spPr>
          <a:xfrm>
            <a:off x="828675" y="1637258"/>
            <a:ext cx="47244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>
                <a:solidFill>
                  <a:srgbClr val="213547"/>
                </a:solidFill>
                <a:latin typeface="Inter"/>
                <a:ea typeface="Inter"/>
                <a:cs typeface="Inter"/>
                <a:sym typeface="Inter"/>
              </a:rPr>
              <a:t>Live URL:</a:t>
            </a:r>
            <a:r>
              <a:rPr lang="en-US" sz="1350" b="0" i="0" u="none" strike="noStrike" cap="none" dirty="0">
                <a:solidFill>
                  <a:srgbClr val="213547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1" i="0" u="none" strike="noStrike" cap="none" dirty="0">
                <a:solidFill>
                  <a:srgbClr val="027DFF"/>
                </a:solidFill>
                <a:latin typeface="Inter"/>
                <a:ea typeface="Inter"/>
                <a:cs typeface="Inter"/>
                <a:sym typeface="Inter"/>
              </a:rPr>
              <a:t>process-</a:t>
            </a:r>
            <a:r>
              <a:rPr lang="en-US" sz="1350" b="1" i="0" u="none" strike="noStrike" cap="none" dirty="0" err="1">
                <a:solidFill>
                  <a:srgbClr val="027DFF"/>
                </a:solidFill>
                <a:latin typeface="Inter"/>
                <a:ea typeface="Inter"/>
                <a:cs typeface="Inter"/>
                <a:sym typeface="Inter"/>
              </a:rPr>
              <a:t>feedback.vercel.app</a:t>
            </a:r>
            <a:endParaRPr dirty="0"/>
          </a:p>
        </p:txBody>
      </p:sp>
      <p:pic>
        <p:nvPicPr>
          <p:cNvPr id="102" name="Google Shape;102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91275" y="1990725"/>
            <a:ext cx="5219700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/>
        </p:nvSpPr>
        <p:spPr>
          <a:xfrm>
            <a:off x="1000124" y="2461493"/>
            <a:ext cx="481012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213547"/>
                </a:solidFill>
                <a:latin typeface="Inter"/>
                <a:ea typeface="Inter"/>
                <a:cs typeface="Inter"/>
                <a:sym typeface="Inter"/>
              </a:rPr>
              <a:t>5 fully functional pages</a:t>
            </a:r>
            <a:endParaRPr dirty="0"/>
          </a:p>
        </p:txBody>
      </p:sp>
      <p:sp>
        <p:nvSpPr>
          <p:cNvPr id="104" name="Google Shape;104;p14"/>
          <p:cNvSpPr txBox="1"/>
          <p:nvPr/>
        </p:nvSpPr>
        <p:spPr>
          <a:xfrm>
            <a:off x="1000123" y="3004418"/>
            <a:ext cx="4810125" cy="346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213547"/>
                </a:solidFill>
                <a:latin typeface="Inter"/>
                <a:ea typeface="Inter"/>
                <a:cs typeface="Inter"/>
                <a:sym typeface="Inter"/>
              </a:rPr>
              <a:t>Tried pixel-perfect design matching the original</a:t>
            </a:r>
            <a:endParaRPr dirty="0"/>
          </a:p>
        </p:txBody>
      </p:sp>
      <p:sp>
        <p:nvSpPr>
          <p:cNvPr id="105" name="Google Shape;105;p14"/>
          <p:cNvSpPr txBox="1"/>
          <p:nvPr/>
        </p:nvSpPr>
        <p:spPr>
          <a:xfrm>
            <a:off x="1000122" y="3507334"/>
            <a:ext cx="481012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213547"/>
                </a:solidFill>
                <a:latin typeface="Inter"/>
                <a:ea typeface="Inter"/>
                <a:cs typeface="Inter"/>
                <a:sym typeface="Inter"/>
              </a:rPr>
              <a:t>Fully responsive on all screen sizes</a:t>
            </a:r>
            <a:endParaRPr dirty="0"/>
          </a:p>
        </p:txBody>
      </p:sp>
      <p:sp>
        <p:nvSpPr>
          <p:cNvPr id="106" name="Google Shape;106;p14"/>
          <p:cNvSpPr txBox="1"/>
          <p:nvPr/>
        </p:nvSpPr>
        <p:spPr>
          <a:xfrm>
            <a:off x="1000121" y="4006961"/>
            <a:ext cx="481012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213547"/>
                </a:solidFill>
                <a:latin typeface="Inter"/>
                <a:ea typeface="Inter"/>
                <a:cs typeface="Inter"/>
                <a:sym typeface="Inter"/>
              </a:rPr>
              <a:t>Deployed and live on </a:t>
            </a:r>
            <a:r>
              <a:rPr lang="en-US" sz="1500" b="0" i="0" u="none" strike="noStrike" cap="none" dirty="0" err="1">
                <a:solidFill>
                  <a:srgbClr val="213547"/>
                </a:solidFill>
                <a:latin typeface="Inter"/>
                <a:ea typeface="Inter"/>
                <a:cs typeface="Inter"/>
                <a:sym typeface="Inter"/>
              </a:rPr>
              <a:t>Vercel</a:t>
            </a:r>
            <a:endParaRPr dirty="0"/>
          </a:p>
        </p:txBody>
      </p:sp>
      <p:pic>
        <p:nvPicPr>
          <p:cNvPr id="107" name="Google Shape;107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2480543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3004418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3528293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4052168"/>
            <a:ext cx="22860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4"/>
          <p:cNvSpPr txBox="1"/>
          <p:nvPr/>
        </p:nvSpPr>
        <p:spPr>
          <a:xfrm>
            <a:off x="571500" y="571500"/>
            <a:ext cx="1160145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50" b="1" i="0" u="none" strike="noStrike" cap="none">
                <a:solidFill>
                  <a:srgbClr val="003F81"/>
                </a:solidFill>
                <a:latin typeface="Inter"/>
                <a:ea typeface="Inter"/>
                <a:cs typeface="Inter"/>
                <a:sym typeface="Inter"/>
              </a:rPr>
              <a:t>What We Built</a:t>
            </a:r>
            <a:endParaRPr/>
          </a:p>
        </p:txBody>
      </p:sp>
      <p:sp>
        <p:nvSpPr>
          <p:cNvPr id="112" name="Google Shape;112;p14"/>
          <p:cNvSpPr txBox="1"/>
          <p:nvPr/>
        </p:nvSpPr>
        <p:spPr>
          <a:xfrm>
            <a:off x="11715750" y="6381750"/>
            <a:ext cx="9525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88C0F9"/>
                </a:solidFill>
                <a:latin typeface="Inter"/>
                <a:ea typeface="Inter"/>
                <a:cs typeface="Inter"/>
                <a:sym typeface="Inter"/>
              </a:rPr>
              <a:t>2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Google Shape;117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5"/>
          <p:cNvSpPr txBox="1"/>
          <p:nvPr/>
        </p:nvSpPr>
        <p:spPr>
          <a:xfrm>
            <a:off x="1000125" y="1947862"/>
            <a:ext cx="4714875" cy="895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03F81"/>
                </a:solidFill>
                <a:latin typeface="Inter"/>
                <a:ea typeface="Inter"/>
                <a:cs typeface="Inter"/>
                <a:sym typeface="Inter"/>
              </a:rPr>
              <a:t>Home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0" i="0" u="none" strike="noStrike" cap="none">
                <a:solidFill>
                  <a:srgbClr val="213547"/>
                </a:solidFill>
                <a:latin typeface="Inter"/>
                <a:ea typeface="Inter"/>
                <a:cs typeface="Inter"/>
                <a:sym typeface="Inter"/>
              </a:rPr>
              <a:t> Hero, stat cards, tools for teachers and students, FAQ, See It In Action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6905625" y="1947862"/>
            <a:ext cx="4714875" cy="895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03F81"/>
                </a:solidFill>
                <a:latin typeface="Inter"/>
                <a:ea typeface="Inter"/>
                <a:cs typeface="Inter"/>
                <a:sym typeface="Inter"/>
              </a:rPr>
              <a:t>Contact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0" i="0" u="none" strike="noStrike" cap="none">
                <a:solidFill>
                  <a:srgbClr val="213547"/>
                </a:solidFill>
                <a:latin typeface="Inter"/>
                <a:ea typeface="Inter"/>
                <a:cs typeface="Inter"/>
                <a:sym typeface="Inter"/>
              </a:rPr>
              <a:t> Email copy button and contact form with validation</a:t>
            </a:r>
            <a:endParaRPr/>
          </a:p>
        </p:txBody>
      </p:sp>
      <p:sp>
        <p:nvSpPr>
          <p:cNvPr id="120" name="Google Shape;120;p15"/>
          <p:cNvSpPr txBox="1"/>
          <p:nvPr/>
        </p:nvSpPr>
        <p:spPr>
          <a:xfrm>
            <a:off x="1000125" y="3462337"/>
            <a:ext cx="4714875" cy="895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03F81"/>
                </a:solidFill>
                <a:latin typeface="Inter"/>
                <a:ea typeface="Inter"/>
                <a:cs typeface="Inter"/>
                <a:sym typeface="Inter"/>
              </a:rPr>
              <a:t>Team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0" i="0" u="none" strike="noStrike" cap="none">
                <a:solidFill>
                  <a:srgbClr val="213547"/>
                </a:solidFill>
                <a:latin typeface="Inter"/>
                <a:ea typeface="Inter"/>
                <a:cs typeface="Inter"/>
                <a:sym typeface="Inter"/>
              </a:rPr>
              <a:t> Current team members, alumni grid, acknowledgements</a:t>
            </a:r>
            <a:endParaRPr/>
          </a:p>
        </p:txBody>
      </p:sp>
      <p:sp>
        <p:nvSpPr>
          <p:cNvPr id="121" name="Google Shape;121;p15"/>
          <p:cNvSpPr txBox="1"/>
          <p:nvPr/>
        </p:nvSpPr>
        <p:spPr>
          <a:xfrm>
            <a:off x="6905625" y="3462337"/>
            <a:ext cx="4714875" cy="895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03F81"/>
                </a:solidFill>
                <a:latin typeface="Inter"/>
                <a:ea typeface="Inter"/>
                <a:cs typeface="Inter"/>
                <a:sym typeface="Inter"/>
              </a:rPr>
              <a:t>Research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0" i="0" u="none" strike="noStrike" cap="none">
                <a:solidFill>
                  <a:srgbClr val="213547"/>
                </a:solidFill>
                <a:latin typeface="Inter"/>
                <a:ea typeface="Inter"/>
                <a:cs typeface="Inter"/>
                <a:sym typeface="Inter"/>
              </a:rPr>
              <a:t> Full-width journal paper sections with images and read buttons</a:t>
            </a:r>
            <a:endParaRPr/>
          </a:p>
        </p:txBody>
      </p:sp>
      <p:sp>
        <p:nvSpPr>
          <p:cNvPr id="122" name="Google Shape;122;p15"/>
          <p:cNvSpPr txBox="1"/>
          <p:nvPr/>
        </p:nvSpPr>
        <p:spPr>
          <a:xfrm>
            <a:off x="1000125" y="4976812"/>
            <a:ext cx="47148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03F81"/>
                </a:solidFill>
                <a:latin typeface="Inter"/>
                <a:ea typeface="Inter"/>
                <a:cs typeface="Inter"/>
                <a:sym typeface="Inter"/>
              </a:rPr>
              <a:t>Teacher Guides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0" i="0" u="none" strike="noStrike" cap="none">
                <a:solidFill>
                  <a:srgbClr val="213547"/>
                </a:solidFill>
                <a:latin typeface="Inter"/>
                <a:ea typeface="Inter"/>
                <a:cs typeface="Inter"/>
                <a:sym typeface="Inter"/>
              </a:rPr>
              <a:t> Breadcrumb navigation and numbered guide list</a:t>
            </a:r>
            <a:endParaRPr/>
          </a:p>
        </p:txBody>
      </p:sp>
      <p:pic>
        <p:nvPicPr>
          <p:cNvPr id="123" name="Google Shape;123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957387"/>
            <a:ext cx="2571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477000" y="1957387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3471862"/>
            <a:ext cx="2857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477000" y="3471862"/>
            <a:ext cx="2571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71500" y="4986337"/>
            <a:ext cx="28575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5"/>
          <p:cNvSpPr txBox="1"/>
          <p:nvPr/>
        </p:nvSpPr>
        <p:spPr>
          <a:xfrm>
            <a:off x="571500" y="571500"/>
            <a:ext cx="1160145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50" b="1" i="0" u="none" strike="noStrike" cap="none">
                <a:solidFill>
                  <a:srgbClr val="003F81"/>
                </a:solidFill>
                <a:latin typeface="Inter"/>
                <a:ea typeface="Inter"/>
                <a:cs typeface="Inter"/>
                <a:sym typeface="Inter"/>
              </a:rPr>
              <a:t>Pages Built</a:t>
            </a:r>
            <a:endParaRPr/>
          </a:p>
        </p:txBody>
      </p:sp>
      <p:sp>
        <p:nvSpPr>
          <p:cNvPr id="129" name="Google Shape;129;p15"/>
          <p:cNvSpPr txBox="1"/>
          <p:nvPr/>
        </p:nvSpPr>
        <p:spPr>
          <a:xfrm>
            <a:off x="11715750" y="6381750"/>
            <a:ext cx="9525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88C0F9"/>
                </a:solidFill>
                <a:latin typeface="Inter"/>
                <a:ea typeface="Inter"/>
                <a:cs typeface="Inter"/>
                <a:sym typeface="Inter"/>
              </a:rPr>
              <a:t>3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Google Shape;134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809750"/>
            <a:ext cx="3492400" cy="1819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650" y="1809750"/>
            <a:ext cx="3492549" cy="1819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7950" y="1809750"/>
            <a:ext cx="3492400" cy="1819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3914775"/>
            <a:ext cx="3492400" cy="2047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1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349650" y="3914775"/>
            <a:ext cx="3492549" cy="2047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16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127950" y="3914775"/>
            <a:ext cx="3492400" cy="2047875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6"/>
          <p:cNvSpPr txBox="1"/>
          <p:nvPr/>
        </p:nvSpPr>
        <p:spPr>
          <a:xfrm>
            <a:off x="1872644" y="2762250"/>
            <a:ext cx="890111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03F81"/>
                </a:solidFill>
                <a:latin typeface="Inter"/>
                <a:ea typeface="Inter"/>
                <a:cs typeface="Inter"/>
                <a:sym typeface="Inter"/>
              </a:rPr>
              <a:t>React 18</a:t>
            </a:r>
            <a:endParaRPr/>
          </a:p>
        </p:txBody>
      </p:sp>
      <p:sp>
        <p:nvSpPr>
          <p:cNvPr id="142" name="Google Shape;142;p16"/>
          <p:cNvSpPr txBox="1"/>
          <p:nvPr/>
        </p:nvSpPr>
        <p:spPr>
          <a:xfrm>
            <a:off x="1546175" y="3105150"/>
            <a:ext cx="154305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213547"/>
                </a:solidFill>
                <a:latin typeface="Inter"/>
                <a:ea typeface="Inter"/>
                <a:cs typeface="Inter"/>
                <a:sym typeface="Inter"/>
              </a:rPr>
              <a:t>Component-based UI</a:t>
            </a:r>
            <a:endParaRPr/>
          </a:p>
        </p:txBody>
      </p:sp>
      <p:sp>
        <p:nvSpPr>
          <p:cNvPr id="143" name="Google Shape;143;p16"/>
          <p:cNvSpPr txBox="1"/>
          <p:nvPr/>
        </p:nvSpPr>
        <p:spPr>
          <a:xfrm>
            <a:off x="5245744" y="2762250"/>
            <a:ext cx="1700212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03F81"/>
                </a:solidFill>
                <a:latin typeface="Inter"/>
                <a:ea typeface="Inter"/>
                <a:cs typeface="Inter"/>
                <a:sym typeface="Inter"/>
              </a:rPr>
              <a:t>React Router v6</a:t>
            </a:r>
            <a:endParaRPr/>
          </a:p>
        </p:txBody>
      </p:sp>
      <p:sp>
        <p:nvSpPr>
          <p:cNvPr id="144" name="Google Shape;144;p16"/>
          <p:cNvSpPr txBox="1"/>
          <p:nvPr/>
        </p:nvSpPr>
        <p:spPr>
          <a:xfrm>
            <a:off x="5433863" y="3105150"/>
            <a:ext cx="132397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213547"/>
                </a:solidFill>
                <a:latin typeface="Inter"/>
                <a:ea typeface="Inter"/>
                <a:cs typeface="Inter"/>
                <a:sym typeface="Inter"/>
              </a:rPr>
              <a:t>Client-side routing</a:t>
            </a:r>
            <a:endParaRPr/>
          </a:p>
        </p:txBody>
      </p:sp>
      <p:sp>
        <p:nvSpPr>
          <p:cNvPr id="145" name="Google Shape;145;p16"/>
          <p:cNvSpPr txBox="1"/>
          <p:nvPr/>
        </p:nvSpPr>
        <p:spPr>
          <a:xfrm>
            <a:off x="8944034" y="2762250"/>
            <a:ext cx="1860232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03F81"/>
                </a:solidFill>
                <a:latin typeface="Inter"/>
                <a:ea typeface="Inter"/>
                <a:cs typeface="Inter"/>
                <a:sym typeface="Inter"/>
              </a:rPr>
              <a:t>Create React App</a:t>
            </a:r>
            <a:endParaRPr/>
          </a:p>
        </p:txBody>
      </p:sp>
      <p:sp>
        <p:nvSpPr>
          <p:cNvPr id="146" name="Google Shape;146;p16"/>
          <p:cNvSpPr txBox="1"/>
          <p:nvPr/>
        </p:nvSpPr>
        <p:spPr>
          <a:xfrm>
            <a:off x="9197875" y="3105150"/>
            <a:ext cx="135255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213547"/>
                </a:solidFill>
                <a:latin typeface="Inter"/>
                <a:ea typeface="Inter"/>
                <a:cs typeface="Inter"/>
                <a:sym typeface="Inter"/>
              </a:rPr>
              <a:t>Project scaffolding</a:t>
            </a:r>
            <a:endParaRPr/>
          </a:p>
        </p:txBody>
      </p:sp>
      <p:sp>
        <p:nvSpPr>
          <p:cNvPr id="147" name="Google Shape;147;p16"/>
          <p:cNvSpPr txBox="1"/>
          <p:nvPr/>
        </p:nvSpPr>
        <p:spPr>
          <a:xfrm>
            <a:off x="1807636" y="4867275"/>
            <a:ext cx="1020127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03F81"/>
                </a:solidFill>
                <a:latin typeface="Inter"/>
                <a:ea typeface="Inter"/>
                <a:cs typeface="Inter"/>
                <a:sym typeface="Inter"/>
              </a:rPr>
              <a:t>Plain CSS</a:t>
            </a:r>
            <a:endParaRPr/>
          </a:p>
        </p:txBody>
      </p:sp>
      <p:sp>
        <p:nvSpPr>
          <p:cNvPr id="148" name="Google Shape;148;p16"/>
          <p:cNvSpPr txBox="1"/>
          <p:nvPr/>
        </p:nvSpPr>
        <p:spPr>
          <a:xfrm>
            <a:off x="1036587" y="5210175"/>
            <a:ext cx="256222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213547"/>
                </a:solidFill>
                <a:latin typeface="Inter"/>
                <a:ea typeface="Inter"/>
                <a:cs typeface="Inter"/>
                <a:sym typeface="Inter"/>
              </a:rPr>
              <a:t>Scoped style blocks, no framework</a:t>
            </a:r>
            <a:endParaRPr/>
          </a:p>
        </p:txBody>
      </p:sp>
      <p:sp>
        <p:nvSpPr>
          <p:cNvPr id="149" name="Google Shape;149;p16"/>
          <p:cNvSpPr txBox="1"/>
          <p:nvPr/>
        </p:nvSpPr>
        <p:spPr>
          <a:xfrm>
            <a:off x="5755808" y="4867275"/>
            <a:ext cx="680085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03F81"/>
                </a:solidFill>
                <a:latin typeface="Inter"/>
                <a:ea typeface="Inter"/>
                <a:cs typeface="Inter"/>
                <a:sym typeface="Inter"/>
              </a:rPr>
              <a:t>Vercel</a:t>
            </a:r>
            <a:endParaRPr/>
          </a:p>
        </p:txBody>
      </p:sp>
      <p:sp>
        <p:nvSpPr>
          <p:cNvPr id="150" name="Google Shape;150;p16"/>
          <p:cNvSpPr txBox="1"/>
          <p:nvPr/>
        </p:nvSpPr>
        <p:spPr>
          <a:xfrm>
            <a:off x="5219551" y="5210175"/>
            <a:ext cx="17526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213547"/>
                </a:solidFill>
                <a:latin typeface="Inter"/>
                <a:ea typeface="Inter"/>
                <a:cs typeface="Inter"/>
                <a:sym typeface="Inter"/>
              </a:rPr>
              <a:t>Deployment and hosting</a:t>
            </a:r>
            <a:endParaRPr/>
          </a:p>
        </p:txBody>
      </p:sp>
      <p:sp>
        <p:nvSpPr>
          <p:cNvPr id="151" name="Google Shape;151;p16"/>
          <p:cNvSpPr txBox="1"/>
          <p:nvPr/>
        </p:nvSpPr>
        <p:spPr>
          <a:xfrm>
            <a:off x="9499103" y="4867275"/>
            <a:ext cx="750093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03F81"/>
                </a:solidFill>
                <a:latin typeface="Inter"/>
                <a:ea typeface="Inter"/>
                <a:cs typeface="Inter"/>
                <a:sym typeface="Inter"/>
              </a:rPr>
              <a:t>GitHub</a:t>
            </a:r>
            <a:endParaRPr/>
          </a:p>
        </p:txBody>
      </p:sp>
      <p:sp>
        <p:nvSpPr>
          <p:cNvPr id="152" name="Google Shape;152;p16"/>
          <p:cNvSpPr txBox="1"/>
          <p:nvPr/>
        </p:nvSpPr>
        <p:spPr>
          <a:xfrm>
            <a:off x="8327975" y="5210175"/>
            <a:ext cx="30923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213547"/>
                </a:solidFill>
                <a:latin typeface="Inter"/>
                <a:ea typeface="Inter"/>
                <a:cs typeface="Inter"/>
                <a:sym typeface="Inter"/>
              </a:rPr>
              <a:t>Version control with organic commit history</a:t>
            </a:r>
            <a:endParaRPr/>
          </a:p>
        </p:txBody>
      </p:sp>
      <p:pic>
        <p:nvPicPr>
          <p:cNvPr id="153" name="Google Shape;153;p16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2108150" y="2143125"/>
            <a:ext cx="4191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16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5886301" y="2152650"/>
            <a:ext cx="4191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6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9664600" y="2152650"/>
            <a:ext cx="4191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16" descr="image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2160537" y="4248150"/>
            <a:ext cx="314325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16" descr="image.png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5833913" y="4257675"/>
            <a:ext cx="523875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16" descr="image.png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9669363" y="4248150"/>
            <a:ext cx="409575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16"/>
          <p:cNvSpPr txBox="1"/>
          <p:nvPr/>
        </p:nvSpPr>
        <p:spPr>
          <a:xfrm>
            <a:off x="571500" y="571500"/>
            <a:ext cx="1160145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50" b="1" i="0" u="none" strike="noStrike" cap="none">
                <a:solidFill>
                  <a:srgbClr val="003F81"/>
                </a:solidFill>
                <a:latin typeface="Inter"/>
                <a:ea typeface="Inter"/>
                <a:cs typeface="Inter"/>
                <a:sym typeface="Inter"/>
              </a:rPr>
              <a:t>Tech Stack</a:t>
            </a:r>
            <a:endParaRPr/>
          </a:p>
        </p:txBody>
      </p:sp>
      <p:sp>
        <p:nvSpPr>
          <p:cNvPr id="160" name="Google Shape;160;p16"/>
          <p:cNvSpPr txBox="1"/>
          <p:nvPr/>
        </p:nvSpPr>
        <p:spPr>
          <a:xfrm>
            <a:off x="11706225" y="6381750"/>
            <a:ext cx="10477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88C0F9"/>
                </a:solidFill>
                <a:latin typeface="Inter"/>
                <a:ea typeface="Inter"/>
                <a:cs typeface="Inter"/>
                <a:sym typeface="Inter"/>
              </a:rPr>
              <a:t>4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5" name="Google Shape;165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7"/>
          <p:cNvSpPr txBox="1"/>
          <p:nvPr/>
        </p:nvSpPr>
        <p:spPr>
          <a:xfrm>
            <a:off x="1000125" y="1766887"/>
            <a:ext cx="90963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03F81"/>
                </a:solidFill>
                <a:latin typeface="Inter"/>
                <a:ea typeface="Inter"/>
                <a:cs typeface="Inter"/>
                <a:sym typeface="Inter"/>
              </a:rPr>
              <a:t>Single constants.js file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0" i="0" u="none" strike="noStrike" cap="none">
                <a:solidFill>
                  <a:srgbClr val="213547"/>
                </a:solidFill>
                <a:latin typeface="Inter"/>
                <a:ea typeface="Inter"/>
                <a:cs typeface="Inter"/>
                <a:sym typeface="Inter"/>
              </a:rPr>
              <a:t> All data stored in one place, serving as a single source of truth across the entire app.</a:t>
            </a:r>
            <a:endParaRPr/>
          </a:p>
        </p:txBody>
      </p:sp>
      <p:sp>
        <p:nvSpPr>
          <p:cNvPr id="167" name="Google Shape;167;p17"/>
          <p:cNvSpPr txBox="1"/>
          <p:nvPr/>
        </p:nvSpPr>
        <p:spPr>
          <a:xfrm>
            <a:off x="1000125" y="2614612"/>
            <a:ext cx="90963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03F81"/>
                </a:solidFill>
                <a:latin typeface="Inter"/>
                <a:ea typeface="Inter"/>
                <a:cs typeface="Inter"/>
                <a:sym typeface="Inter"/>
              </a:rPr>
              <a:t>Reusable components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0" i="0" u="none" strike="noStrike" cap="none">
                <a:solidFill>
                  <a:srgbClr val="213547"/>
                </a:solidFill>
                <a:latin typeface="Inter"/>
                <a:ea typeface="Inter"/>
                <a:cs typeface="Inter"/>
                <a:sym typeface="Inter"/>
              </a:rPr>
              <a:t> Navbar, Footer, PageHero, and AnimateIn components are written once and used across all pages.</a:t>
            </a:r>
            <a:endParaRPr/>
          </a:p>
        </p:txBody>
      </p:sp>
      <p:sp>
        <p:nvSpPr>
          <p:cNvPr id="168" name="Google Shape;168;p17"/>
          <p:cNvSpPr txBox="1"/>
          <p:nvPr/>
        </p:nvSpPr>
        <p:spPr>
          <a:xfrm>
            <a:off x="1000125" y="3462337"/>
            <a:ext cx="90963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03F81"/>
                </a:solidFill>
                <a:latin typeface="Inter"/>
                <a:ea typeface="Inter"/>
                <a:cs typeface="Inter"/>
                <a:sym typeface="Inter"/>
              </a:rPr>
              <a:t>Layout wrapper pattern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0" i="0" u="none" strike="noStrike" cap="none">
                <a:solidFill>
                  <a:srgbClr val="213547"/>
                </a:solidFill>
                <a:latin typeface="Inter"/>
                <a:ea typeface="Inter"/>
                <a:cs typeface="Inter"/>
                <a:sym typeface="Inter"/>
              </a:rPr>
              <a:t> Navbar and Footer wrap every route at the top level, keeping individual page code extremely clean.</a:t>
            </a:r>
            <a:endParaRPr/>
          </a:p>
        </p:txBody>
      </p:sp>
      <p:sp>
        <p:nvSpPr>
          <p:cNvPr id="169" name="Google Shape;169;p17"/>
          <p:cNvSpPr txBox="1"/>
          <p:nvPr/>
        </p:nvSpPr>
        <p:spPr>
          <a:xfrm>
            <a:off x="1000125" y="4310062"/>
            <a:ext cx="90963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03F81"/>
                </a:solidFill>
                <a:latin typeface="Inter"/>
                <a:ea typeface="Inter"/>
                <a:cs typeface="Inter"/>
                <a:sym typeface="Inter"/>
              </a:rPr>
              <a:t>No Tailwind CSS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0" i="0" u="none" strike="noStrike" cap="none">
                <a:solidFill>
                  <a:srgbClr val="213547"/>
                </a:solidFill>
                <a:latin typeface="Inter"/>
                <a:ea typeface="Inter"/>
                <a:cs typeface="Inter"/>
                <a:sym typeface="Inter"/>
              </a:rPr>
              <a:t> The original site uses Tailwind, but we elected to write plain CSS directly from the compiled output.</a:t>
            </a:r>
            <a:endParaRPr/>
          </a:p>
        </p:txBody>
      </p:sp>
      <p:sp>
        <p:nvSpPr>
          <p:cNvPr id="170" name="Google Shape;170;p17"/>
          <p:cNvSpPr txBox="1"/>
          <p:nvPr/>
        </p:nvSpPr>
        <p:spPr>
          <a:xfrm>
            <a:off x="1000125" y="5157787"/>
            <a:ext cx="90963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03F81"/>
                </a:solidFill>
                <a:latin typeface="Inter"/>
                <a:ea typeface="Inter"/>
                <a:cs typeface="Inter"/>
                <a:sym typeface="Inter"/>
              </a:rPr>
              <a:t>Scoped style blocks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0" i="0" u="none" strike="noStrike" cap="none">
                <a:solidFill>
                  <a:srgbClr val="213547"/>
                </a:solidFill>
                <a:latin typeface="Inter"/>
                <a:ea typeface="Inter"/>
                <a:cs typeface="Inter"/>
                <a:sym typeface="Inter"/>
              </a:rPr>
              <a:t> Each component strictly owns its specific CSS file, effectively preventing global style leaking.</a:t>
            </a:r>
            <a:endParaRPr/>
          </a:p>
        </p:txBody>
      </p:sp>
      <p:pic>
        <p:nvPicPr>
          <p:cNvPr id="171" name="Google Shape;171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776412"/>
            <a:ext cx="1714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2624137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3471862"/>
            <a:ext cx="2571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4319587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17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71500" y="5167312"/>
            <a:ext cx="22860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17"/>
          <p:cNvSpPr txBox="1"/>
          <p:nvPr/>
        </p:nvSpPr>
        <p:spPr>
          <a:xfrm>
            <a:off x="571500" y="571500"/>
            <a:ext cx="1160145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50" b="1" i="0" u="none" strike="noStrike" cap="none">
                <a:solidFill>
                  <a:srgbClr val="003F81"/>
                </a:solidFill>
                <a:latin typeface="Inter"/>
                <a:ea typeface="Inter"/>
                <a:cs typeface="Inter"/>
                <a:sym typeface="Inter"/>
              </a:rPr>
              <a:t>Architecture &amp; Key Decisions</a:t>
            </a:r>
            <a:endParaRPr/>
          </a:p>
        </p:txBody>
      </p:sp>
      <p:sp>
        <p:nvSpPr>
          <p:cNvPr id="177" name="Google Shape;177;p17"/>
          <p:cNvSpPr txBox="1"/>
          <p:nvPr/>
        </p:nvSpPr>
        <p:spPr>
          <a:xfrm>
            <a:off x="11715750" y="6381750"/>
            <a:ext cx="9525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88C0F9"/>
                </a:solidFill>
                <a:latin typeface="Inter"/>
                <a:ea typeface="Inter"/>
                <a:cs typeface="Inter"/>
                <a:sym typeface="Inter"/>
              </a:rPr>
              <a:t>5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2" name="Google Shape;182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1981200"/>
            <a:ext cx="523875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91275" y="1990725"/>
            <a:ext cx="5219700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18"/>
          <p:cNvSpPr txBox="1"/>
          <p:nvPr/>
        </p:nvSpPr>
        <p:spPr>
          <a:xfrm>
            <a:off x="1000125" y="1047750"/>
            <a:ext cx="4810125" cy="118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003F81"/>
                </a:solidFill>
                <a:latin typeface="Inter"/>
                <a:ea typeface="Inter"/>
                <a:cs typeface="Inter"/>
                <a:sym typeface="Inter"/>
              </a:rPr>
              <a:t>Colors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0" i="0" u="none" strike="noStrike" cap="none" dirty="0">
                <a:solidFill>
                  <a:srgbClr val="213547"/>
                </a:solidFill>
                <a:latin typeface="Inter"/>
                <a:ea typeface="Inter"/>
                <a:cs typeface="Inter"/>
                <a:sym typeface="Inter"/>
              </a:rPr>
              <a:t>Dug through the compiled CSS file to find hex values behind custom Tailwind tokens (e.g., </a:t>
            </a:r>
            <a:r>
              <a:rPr lang="en-US" sz="1500" b="0" i="0" u="none" strike="noStrike" cap="none" dirty="0" err="1">
                <a:solidFill>
                  <a:srgbClr val="213547"/>
                </a:solidFill>
                <a:latin typeface="Inter"/>
                <a:ea typeface="Inter"/>
                <a:cs typeface="Inter"/>
                <a:sym typeface="Inter"/>
              </a:rPr>
              <a:t>bg-websiteNav</a:t>
            </a:r>
            <a:r>
              <a:rPr lang="en-US" sz="1500" b="0" i="0" u="none" strike="noStrike" cap="none" dirty="0">
                <a:solidFill>
                  <a:srgbClr val="213547"/>
                </a:solidFill>
                <a:latin typeface="Inter"/>
                <a:ea typeface="Inter"/>
                <a:cs typeface="Inter"/>
                <a:sym typeface="Inter"/>
              </a:rPr>
              <a:t> = #88c0f9).</a:t>
            </a:r>
            <a:endParaRPr dirty="0"/>
          </a:p>
        </p:txBody>
      </p:sp>
      <p:sp>
        <p:nvSpPr>
          <p:cNvPr id="186" name="Google Shape;186;p18"/>
          <p:cNvSpPr txBox="1"/>
          <p:nvPr/>
        </p:nvSpPr>
        <p:spPr>
          <a:xfrm>
            <a:off x="1000125" y="2466975"/>
            <a:ext cx="4810125" cy="118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003F81"/>
                </a:solidFill>
                <a:latin typeface="Inter"/>
                <a:ea typeface="Inter"/>
                <a:cs typeface="Inter"/>
                <a:sym typeface="Inter"/>
              </a:rPr>
              <a:t>SVGs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0" i="0" u="none" strike="noStrike" cap="none" dirty="0">
                <a:solidFill>
                  <a:srgbClr val="213547"/>
                </a:solidFill>
                <a:latin typeface="Inter"/>
                <a:ea typeface="Inter"/>
                <a:cs typeface="Inter"/>
                <a:sym typeface="Inter"/>
              </a:rPr>
              <a:t>Copied path data directly from the saved HTML source since the original uses react-icons which compiles to inline </a:t>
            </a:r>
            <a:r>
              <a:rPr lang="en-US" sz="1500" b="0" i="0" u="none" strike="noStrike" cap="none" dirty="0" err="1">
                <a:solidFill>
                  <a:srgbClr val="213547"/>
                </a:solidFill>
                <a:latin typeface="Inter"/>
                <a:ea typeface="Inter"/>
                <a:cs typeface="Inter"/>
                <a:sym typeface="Inter"/>
              </a:rPr>
              <a:t>SVGs.</a:t>
            </a:r>
            <a:endParaRPr dirty="0"/>
          </a:p>
        </p:txBody>
      </p:sp>
      <p:sp>
        <p:nvSpPr>
          <p:cNvPr id="187" name="Google Shape;187;p18"/>
          <p:cNvSpPr txBox="1"/>
          <p:nvPr/>
        </p:nvSpPr>
        <p:spPr>
          <a:xfrm>
            <a:off x="1000125" y="3886200"/>
            <a:ext cx="4810125" cy="118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003F81"/>
                </a:solidFill>
                <a:latin typeface="Inter"/>
                <a:ea typeface="Inter"/>
                <a:cs typeface="Inter"/>
                <a:sym typeface="Inter"/>
              </a:rPr>
              <a:t>Images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0" i="0" u="none" strike="noStrike" cap="none" dirty="0" err="1">
                <a:solidFill>
                  <a:srgbClr val="213547"/>
                </a:solidFill>
                <a:latin typeface="Inter"/>
                <a:ea typeface="Inter"/>
                <a:cs typeface="Inter"/>
                <a:sym typeface="Inter"/>
              </a:rPr>
              <a:t>Hotlinked</a:t>
            </a:r>
            <a:r>
              <a:rPr lang="en-US" sz="1500" b="0" i="0" u="none" strike="noStrike" cap="none" dirty="0">
                <a:solidFill>
                  <a:srgbClr val="213547"/>
                </a:solidFill>
                <a:latin typeface="Inter"/>
                <a:ea typeface="Inter"/>
                <a:cs typeface="Inter"/>
                <a:sym typeface="Inter"/>
              </a:rPr>
              <a:t> from the original CDN. Files are .</a:t>
            </a:r>
            <a:r>
              <a:rPr lang="en-US" sz="1500" b="0" i="0" u="none" strike="noStrike" cap="none" dirty="0" err="1">
                <a:solidFill>
                  <a:srgbClr val="213547"/>
                </a:solidFill>
                <a:latin typeface="Inter"/>
                <a:ea typeface="Inter"/>
                <a:cs typeface="Inter"/>
                <a:sym typeface="Inter"/>
              </a:rPr>
              <a:t>webp</a:t>
            </a:r>
            <a:r>
              <a:rPr lang="en-US" sz="1500" b="0" i="0" u="none" strike="noStrike" cap="none" dirty="0">
                <a:solidFill>
                  <a:srgbClr val="213547"/>
                </a:solidFill>
                <a:latin typeface="Inter"/>
                <a:ea typeface="Inter"/>
                <a:cs typeface="Inter"/>
                <a:sym typeface="Inter"/>
              </a:rPr>
              <a:t>/.</a:t>
            </a:r>
            <a:r>
              <a:rPr lang="en-US" sz="1500" b="0" i="0" u="none" strike="noStrike" cap="none" dirty="0" err="1">
                <a:solidFill>
                  <a:srgbClr val="213547"/>
                </a:solidFill>
                <a:latin typeface="Inter"/>
                <a:ea typeface="Inter"/>
                <a:cs typeface="Inter"/>
                <a:sym typeface="Inter"/>
              </a:rPr>
              <a:t>avif</a:t>
            </a:r>
            <a:r>
              <a:rPr lang="en-US" sz="1500" b="0" i="0" u="none" strike="noStrike" cap="none" dirty="0">
                <a:solidFill>
                  <a:srgbClr val="213547"/>
                </a:solidFill>
                <a:latin typeface="Inter"/>
                <a:ea typeface="Inter"/>
                <a:cs typeface="Inter"/>
                <a:sym typeface="Inter"/>
              </a:rPr>
              <a:t> with built-in transparency, requiring no background removal.</a:t>
            </a:r>
            <a:endParaRPr dirty="0"/>
          </a:p>
        </p:txBody>
      </p:sp>
      <p:sp>
        <p:nvSpPr>
          <p:cNvPr id="188" name="Google Shape;188;p18"/>
          <p:cNvSpPr txBox="1"/>
          <p:nvPr/>
        </p:nvSpPr>
        <p:spPr>
          <a:xfrm>
            <a:off x="1000125" y="5305425"/>
            <a:ext cx="4810125" cy="118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003F81"/>
                </a:solidFill>
                <a:latin typeface="Inter"/>
                <a:ea typeface="Inter"/>
                <a:cs typeface="Inter"/>
                <a:sym typeface="Inter"/>
              </a:rPr>
              <a:t>Layout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0" i="0" u="none" strike="noStrike" cap="none" dirty="0">
                <a:solidFill>
                  <a:srgbClr val="213547"/>
                </a:solidFill>
                <a:latin typeface="Inter"/>
                <a:ea typeface="Inter"/>
                <a:cs typeface="Inter"/>
                <a:sym typeface="Inter"/>
              </a:rPr>
              <a:t>Inspected HTML structure to deeply understand the full-width section pattern utilized on the research page.</a:t>
            </a:r>
            <a:endParaRPr dirty="0"/>
          </a:p>
        </p:txBody>
      </p:sp>
      <p:pic>
        <p:nvPicPr>
          <p:cNvPr id="189" name="Google Shape;189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1057275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18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2476500"/>
            <a:ext cx="2857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18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71500" y="3895725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18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571500" y="5314950"/>
            <a:ext cx="22860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18"/>
          <p:cNvSpPr txBox="1"/>
          <p:nvPr/>
        </p:nvSpPr>
        <p:spPr>
          <a:xfrm>
            <a:off x="571500" y="133350"/>
            <a:ext cx="1160145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50" b="1" i="0" u="none" strike="noStrike" cap="none">
                <a:solidFill>
                  <a:srgbClr val="003F81"/>
                </a:solidFill>
                <a:latin typeface="Inter"/>
                <a:ea typeface="Inter"/>
                <a:cs typeface="Inter"/>
                <a:sym typeface="Inter"/>
              </a:rPr>
              <a:t>Reverse Engineering the Original</a:t>
            </a:r>
            <a:endParaRPr/>
          </a:p>
        </p:txBody>
      </p:sp>
      <p:sp>
        <p:nvSpPr>
          <p:cNvPr id="194" name="Google Shape;194;p18"/>
          <p:cNvSpPr txBox="1"/>
          <p:nvPr/>
        </p:nvSpPr>
        <p:spPr>
          <a:xfrm>
            <a:off x="11715750" y="6381750"/>
            <a:ext cx="9525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88C0F9"/>
                </a:solidFill>
                <a:latin typeface="Inter"/>
                <a:ea typeface="Inter"/>
                <a:cs typeface="Inter"/>
                <a:sym typeface="Inter"/>
              </a:rPr>
              <a:t>6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9" name="Google Shape;199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19"/>
          <p:cNvSpPr txBox="1"/>
          <p:nvPr/>
        </p:nvSpPr>
        <p:spPr>
          <a:xfrm>
            <a:off x="1000125" y="1195387"/>
            <a:ext cx="9096375" cy="5770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003F81"/>
                </a:solidFill>
                <a:latin typeface="Inter"/>
                <a:ea typeface="Inter"/>
                <a:cs typeface="Inter"/>
                <a:sym typeface="Inter"/>
              </a:rPr>
              <a:t>Initially we tried doing it with </a:t>
            </a:r>
            <a:r>
              <a:rPr lang="en-US" sz="1500" b="1" dirty="0" err="1">
                <a:solidFill>
                  <a:srgbClr val="003F81"/>
                </a:solidFill>
                <a:latin typeface="Inter"/>
                <a:ea typeface="Inter"/>
                <a:cs typeface="Inter"/>
                <a:sym typeface="Inter"/>
              </a:rPr>
              <a:t>M</a:t>
            </a:r>
            <a:r>
              <a:rPr lang="en-US" sz="1500" b="1" i="0" u="none" strike="noStrike" cap="none" dirty="0" err="1">
                <a:solidFill>
                  <a:srgbClr val="003F81"/>
                </a:solidFill>
                <a:latin typeface="Inter"/>
                <a:ea typeface="Inter"/>
                <a:cs typeface="Inter"/>
                <a:sym typeface="Inter"/>
              </a:rPr>
              <a:t>aterialUI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0" i="0" u="none" strike="noStrike" cap="none" dirty="0">
                <a:solidFill>
                  <a:srgbClr val="213547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dirty="0" err="1">
                <a:solidFill>
                  <a:srgbClr val="213547"/>
                </a:solidFill>
                <a:latin typeface="Inter"/>
                <a:ea typeface="Inter"/>
                <a:cs typeface="Inter"/>
                <a:sym typeface="Inter"/>
              </a:rPr>
              <a:t>MaterialUI</a:t>
            </a:r>
            <a:r>
              <a:rPr lang="en-US" sz="1500" dirty="0">
                <a:solidFill>
                  <a:srgbClr val="213547"/>
                </a:solidFill>
                <a:latin typeface="Inter"/>
                <a:ea typeface="Inter"/>
                <a:cs typeface="Inter"/>
                <a:sym typeface="Inter"/>
              </a:rPr>
              <a:t> was too complex for understanding and none of their assets were really useful.</a:t>
            </a:r>
            <a:endParaRPr dirty="0"/>
          </a:p>
        </p:txBody>
      </p:sp>
      <p:sp>
        <p:nvSpPr>
          <p:cNvPr id="201" name="Google Shape;201;p19"/>
          <p:cNvSpPr txBox="1"/>
          <p:nvPr/>
        </p:nvSpPr>
        <p:spPr>
          <a:xfrm>
            <a:off x="1000125" y="2043112"/>
            <a:ext cx="9096375" cy="895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003F81"/>
                </a:solidFill>
                <a:latin typeface="Inter"/>
                <a:ea typeface="Inter"/>
                <a:cs typeface="Inter"/>
                <a:sym typeface="Inter"/>
              </a:rPr>
              <a:t>Inline styles limitations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0" i="0" u="none" strike="noStrike" cap="none" dirty="0">
                <a:solidFill>
                  <a:srgbClr val="213547"/>
                </a:solidFill>
                <a:latin typeface="Inter"/>
                <a:ea typeface="Inter"/>
                <a:cs typeface="Inter"/>
                <a:sym typeface="Inter"/>
              </a:rPr>
              <a:t>Inline styles can't do media queries. We had to inject &lt;/div&gt; tags inside components for responsive layouts.</a:t>
            </a:r>
            <a:endParaRPr dirty="0"/>
          </a:p>
        </p:txBody>
      </p:sp>
      <p:sp>
        <p:nvSpPr>
          <p:cNvPr id="202" name="Google Shape;202;p19"/>
          <p:cNvSpPr txBox="1"/>
          <p:nvPr/>
        </p:nvSpPr>
        <p:spPr>
          <a:xfrm>
            <a:off x="1000125" y="3176587"/>
            <a:ext cx="9096375" cy="895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003F81"/>
                </a:solidFill>
                <a:latin typeface="Inter"/>
                <a:ea typeface="Inter"/>
                <a:cs typeface="Inter"/>
                <a:sym typeface="Inter"/>
              </a:rPr>
              <a:t>Research page first attempt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0" i="0" u="none" strike="noStrike" cap="none" dirty="0">
                <a:solidFill>
                  <a:srgbClr val="213547"/>
                </a:solidFill>
                <a:latin typeface="Inter"/>
                <a:ea typeface="Inter"/>
                <a:cs typeface="Inter"/>
                <a:sym typeface="Inter"/>
              </a:rPr>
              <a:t>Initially built as a card grid. We had to refactor because the real layout uses full-width alternating sections.</a:t>
            </a:r>
            <a:endParaRPr dirty="0"/>
          </a:p>
        </p:txBody>
      </p:sp>
      <p:sp>
        <p:nvSpPr>
          <p:cNvPr id="203" name="Google Shape;203;p19"/>
          <p:cNvSpPr txBox="1"/>
          <p:nvPr/>
        </p:nvSpPr>
        <p:spPr>
          <a:xfrm>
            <a:off x="1000125" y="4310062"/>
            <a:ext cx="9096375" cy="86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 err="1">
                <a:solidFill>
                  <a:srgbClr val="003F81"/>
                </a:solidFill>
                <a:latin typeface="Inter"/>
                <a:ea typeface="Inter"/>
                <a:cs typeface="Inter"/>
                <a:sym typeface="Inter"/>
              </a:rPr>
              <a:t>Vercel</a:t>
            </a:r>
            <a:r>
              <a:rPr lang="en-US" sz="1500" b="1" i="0" u="none" strike="noStrike" cap="none" dirty="0">
                <a:solidFill>
                  <a:srgbClr val="003F81"/>
                </a:solidFill>
                <a:latin typeface="Inter"/>
                <a:ea typeface="Inter"/>
                <a:cs typeface="Inter"/>
                <a:sym typeface="Inter"/>
              </a:rPr>
              <a:t> CI failure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0" i="0" u="none" strike="noStrike" cap="none" dirty="0">
                <a:solidFill>
                  <a:srgbClr val="213547"/>
                </a:solidFill>
                <a:latin typeface="Inter"/>
                <a:ea typeface="Inter"/>
                <a:cs typeface="Inter"/>
                <a:sym typeface="Inter"/>
              </a:rPr>
              <a:t>An unused import that worked perfectly fine locally broke the strict production build on deployment.</a:t>
            </a:r>
          </a:p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dirty="0">
                <a:solidFill>
                  <a:srgbClr val="213547"/>
                </a:solidFill>
                <a:latin typeface="Inter"/>
                <a:ea typeface="Inter"/>
                <a:sym typeface="Inter"/>
              </a:rPr>
              <a:t>We updated the import.</a:t>
            </a:r>
            <a:endParaRPr dirty="0"/>
          </a:p>
        </p:txBody>
      </p:sp>
      <p:pic>
        <p:nvPicPr>
          <p:cNvPr id="205" name="Google Shape;205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204912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2052637"/>
            <a:ext cx="2857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3186112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19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4319587"/>
            <a:ext cx="22860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19"/>
          <p:cNvSpPr txBox="1"/>
          <p:nvPr/>
        </p:nvSpPr>
        <p:spPr>
          <a:xfrm>
            <a:off x="571500" y="280987"/>
            <a:ext cx="1160145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50" b="1" i="0" u="none" strike="noStrike" cap="none">
                <a:solidFill>
                  <a:srgbClr val="003F81"/>
                </a:solidFill>
                <a:latin typeface="Inter"/>
                <a:ea typeface="Inter"/>
                <a:cs typeface="Inter"/>
                <a:sym typeface="Inter"/>
              </a:rPr>
              <a:t>Challenges We Faced</a:t>
            </a:r>
            <a:endParaRPr/>
          </a:p>
        </p:txBody>
      </p:sp>
      <p:sp>
        <p:nvSpPr>
          <p:cNvPr id="211" name="Google Shape;211;p19"/>
          <p:cNvSpPr txBox="1"/>
          <p:nvPr/>
        </p:nvSpPr>
        <p:spPr>
          <a:xfrm>
            <a:off x="11725275" y="6381750"/>
            <a:ext cx="8572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88C0F9"/>
                </a:solidFill>
                <a:latin typeface="Inter"/>
                <a:ea typeface="Inter"/>
                <a:cs typeface="Inter"/>
                <a:sym typeface="Inter"/>
              </a:rPr>
              <a:t>7</a:t>
            </a:r>
            <a:endParaRPr/>
          </a:p>
        </p:txBody>
      </p:sp>
      <p:pic>
        <p:nvPicPr>
          <p:cNvPr id="2" name="Google Shape;205;p19" descr="image.png">
            <a:extLst>
              <a:ext uri="{FF2B5EF4-FFF2-40B4-BE49-F238E27FC236}">
                <a16:creationId xmlns:a16="http://schemas.microsoft.com/office/drawing/2014/main" id="{23F6BB58-7EB8-CF0A-B25F-4C678A8AD213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57212" y="5453062"/>
            <a:ext cx="22860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200;p19">
            <a:extLst>
              <a:ext uri="{FF2B5EF4-FFF2-40B4-BE49-F238E27FC236}">
                <a16:creationId xmlns:a16="http://schemas.microsoft.com/office/drawing/2014/main" id="{994BB300-4A69-C1F2-04EE-B57D32DDDEED}"/>
              </a:ext>
            </a:extLst>
          </p:cNvPr>
          <p:cNvSpPr txBox="1"/>
          <p:nvPr/>
        </p:nvSpPr>
        <p:spPr>
          <a:xfrm>
            <a:off x="1000124" y="5272087"/>
            <a:ext cx="9096375" cy="5770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003F81"/>
                </a:solidFill>
                <a:latin typeface="Inter"/>
                <a:ea typeface="Inter"/>
                <a:cs typeface="Inter"/>
                <a:sym typeface="Inter"/>
              </a:rPr>
              <a:t>Reverse engineering colors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0" i="0" u="none" strike="noStrike" cap="none" dirty="0">
                <a:solidFill>
                  <a:srgbClr val="213547"/>
                </a:solidFill>
                <a:latin typeface="Inter"/>
                <a:ea typeface="Inter"/>
                <a:cs typeface="Inter"/>
                <a:sym typeface="Inter"/>
              </a:rPr>
              <a:t>Custom Tailwind tokens are completely meaningless without referencing the compiled CSS.</a:t>
            </a:r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6" name="Google Shape;216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340197"/>
            <a:ext cx="5334000" cy="2472779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86500" y="1340197"/>
            <a:ext cx="5334000" cy="2472779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4193976"/>
            <a:ext cx="5334000" cy="2238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20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286500" y="4193976"/>
            <a:ext cx="5334000" cy="2238375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20"/>
          <p:cNvSpPr txBox="1"/>
          <p:nvPr/>
        </p:nvSpPr>
        <p:spPr>
          <a:xfrm>
            <a:off x="962025" y="2387947"/>
            <a:ext cx="1820227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03F81"/>
                </a:solidFill>
                <a:latin typeface="Inter"/>
                <a:ea typeface="Inter"/>
                <a:cs typeface="Inter"/>
                <a:sym typeface="Inter"/>
              </a:rPr>
              <a:t>clamp() Function</a:t>
            </a:r>
            <a:endParaRPr/>
          </a:p>
        </p:txBody>
      </p:sp>
      <p:sp>
        <p:nvSpPr>
          <p:cNvPr id="222" name="Google Shape;222;p20"/>
          <p:cNvSpPr txBox="1"/>
          <p:nvPr/>
        </p:nvSpPr>
        <p:spPr>
          <a:xfrm>
            <a:off x="962025" y="2730847"/>
            <a:ext cx="455295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213547"/>
                </a:solidFill>
                <a:latin typeface="Inter"/>
                <a:ea typeface="Inter"/>
                <a:cs typeface="Inter"/>
                <a:sym typeface="Inter"/>
              </a:rPr>
              <a:t>Enabled fluid font and width sizing without relying on rigid breakpoints. 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00" b="0" i="0" u="none" strike="noStrike" cap="none" dirty="0">
                <a:solidFill>
                  <a:srgbClr val="213547"/>
                </a:solidFill>
                <a:latin typeface="Inter"/>
                <a:ea typeface="Inter"/>
                <a:cs typeface="Inter"/>
                <a:sym typeface="Inter"/>
              </a:rPr>
              <a:t>Example: clamp(2rem, 6vw, 60px).</a:t>
            </a:r>
            <a:endParaRPr dirty="0"/>
          </a:p>
        </p:txBody>
      </p:sp>
      <p:sp>
        <p:nvSpPr>
          <p:cNvPr id="223" name="Google Shape;223;p20"/>
          <p:cNvSpPr txBox="1"/>
          <p:nvPr/>
        </p:nvSpPr>
        <p:spPr>
          <a:xfrm>
            <a:off x="6677025" y="2387947"/>
            <a:ext cx="950118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03F81"/>
                </a:solidFill>
                <a:latin typeface="Inter"/>
                <a:ea typeface="Inter"/>
                <a:cs typeface="Inter"/>
                <a:sym typeface="Inter"/>
              </a:rPr>
              <a:t>CSS Grid</a:t>
            </a:r>
            <a:endParaRPr/>
          </a:p>
        </p:txBody>
      </p:sp>
      <p:sp>
        <p:nvSpPr>
          <p:cNvPr id="224" name="Google Shape;224;p20"/>
          <p:cNvSpPr txBox="1"/>
          <p:nvPr/>
        </p:nvSpPr>
        <p:spPr>
          <a:xfrm>
            <a:off x="6677025" y="2730847"/>
            <a:ext cx="45529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213547"/>
                </a:solidFill>
                <a:latin typeface="Inter"/>
                <a:ea typeface="Inter"/>
                <a:cs typeface="Inter"/>
                <a:sym typeface="Inter"/>
              </a:rPr>
              <a:t>Used to create automatic, mathematically precise column layouts for the tool cards and footer sections.</a:t>
            </a:r>
            <a:endParaRPr/>
          </a:p>
        </p:txBody>
      </p:sp>
      <p:sp>
        <p:nvSpPr>
          <p:cNvPr id="225" name="Google Shape;225;p20"/>
          <p:cNvSpPr txBox="1"/>
          <p:nvPr/>
        </p:nvSpPr>
        <p:spPr>
          <a:xfrm>
            <a:off x="962025" y="5241726"/>
            <a:ext cx="1560195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03F81"/>
                </a:solidFill>
                <a:latin typeface="Inter"/>
                <a:ea typeface="Inter"/>
                <a:cs typeface="Inter"/>
                <a:sym typeface="Inter"/>
              </a:rPr>
              <a:t>Media Queries</a:t>
            </a:r>
            <a:endParaRPr/>
          </a:p>
        </p:txBody>
      </p:sp>
      <p:sp>
        <p:nvSpPr>
          <p:cNvPr id="226" name="Google Shape;226;p20"/>
          <p:cNvSpPr txBox="1"/>
          <p:nvPr/>
        </p:nvSpPr>
        <p:spPr>
          <a:xfrm>
            <a:off x="962025" y="5584626"/>
            <a:ext cx="45529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213547"/>
                </a:solidFill>
                <a:latin typeface="Inter"/>
                <a:ea typeface="Inter"/>
                <a:cs typeface="Inter"/>
                <a:sym typeface="Inter"/>
              </a:rPr>
              <a:t>Implemented standard breakpoints: Navbar desktop/mobile switch at 1024px, and Research layout stacking at 1024px.</a:t>
            </a:r>
            <a:endParaRPr/>
          </a:p>
        </p:txBody>
      </p:sp>
      <p:sp>
        <p:nvSpPr>
          <p:cNvPr id="227" name="Google Shape;227;p20"/>
          <p:cNvSpPr txBox="1"/>
          <p:nvPr/>
        </p:nvSpPr>
        <p:spPr>
          <a:xfrm>
            <a:off x="6677025" y="5241726"/>
            <a:ext cx="990123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03F81"/>
                </a:solidFill>
                <a:latin typeface="Inter"/>
                <a:ea typeface="Inter"/>
                <a:cs typeface="Inter"/>
                <a:sym typeface="Inter"/>
              </a:rPr>
              <a:t>flexWrap</a:t>
            </a:r>
            <a:endParaRPr/>
          </a:p>
        </p:txBody>
      </p:sp>
      <p:sp>
        <p:nvSpPr>
          <p:cNvPr id="228" name="Google Shape;228;p20"/>
          <p:cNvSpPr txBox="1"/>
          <p:nvPr/>
        </p:nvSpPr>
        <p:spPr>
          <a:xfrm>
            <a:off x="6677025" y="5584626"/>
            <a:ext cx="45529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213547"/>
                </a:solidFill>
                <a:latin typeface="Inter"/>
                <a:ea typeface="Inter"/>
                <a:cs typeface="Inter"/>
                <a:sym typeface="Inter"/>
              </a:rPr>
              <a:t>Allowed hero bullets and stat cards to naturally wrap and stack on small screens without complex CSS overrides.</a:t>
            </a:r>
            <a:endParaRPr/>
          </a:p>
        </p:txBody>
      </p:sp>
      <p:pic>
        <p:nvPicPr>
          <p:cNvPr id="229" name="Google Shape;229;p20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62025" y="1778347"/>
            <a:ext cx="371475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p20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677025" y="1778347"/>
            <a:ext cx="4191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" name="Google Shape;231;p20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962025" y="4632126"/>
            <a:ext cx="314325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" name="Google Shape;232;p20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6677025" y="4632126"/>
            <a:ext cx="4191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20"/>
          <p:cNvSpPr txBox="1"/>
          <p:nvPr/>
        </p:nvSpPr>
        <p:spPr>
          <a:xfrm>
            <a:off x="571500" y="425797"/>
            <a:ext cx="1160145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50" b="1" i="0" u="none" strike="noStrike" cap="none">
                <a:solidFill>
                  <a:srgbClr val="003F81"/>
                </a:solidFill>
                <a:latin typeface="Inter"/>
                <a:ea typeface="Inter"/>
                <a:cs typeface="Inter"/>
                <a:sym typeface="Inter"/>
              </a:rPr>
              <a:t>How We Made It Responsive</a:t>
            </a:r>
            <a:endParaRPr/>
          </a:p>
        </p:txBody>
      </p:sp>
      <p:sp>
        <p:nvSpPr>
          <p:cNvPr id="234" name="Google Shape;234;p20"/>
          <p:cNvSpPr txBox="1"/>
          <p:nvPr/>
        </p:nvSpPr>
        <p:spPr>
          <a:xfrm>
            <a:off x="11715750" y="6381750"/>
            <a:ext cx="9525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88C0F9"/>
                </a:solidFill>
                <a:latin typeface="Inter"/>
                <a:ea typeface="Inter"/>
                <a:cs typeface="Inter"/>
                <a:sym typeface="Inter"/>
              </a:rPr>
              <a:t>8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9" name="Google Shape;239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" name="Google Shape;240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539430"/>
            <a:ext cx="4162425" cy="885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" name="Google Shape;241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038975" y="1952625"/>
            <a:ext cx="3829050" cy="3867150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21"/>
          <p:cNvSpPr txBox="1"/>
          <p:nvPr/>
        </p:nvSpPr>
        <p:spPr>
          <a:xfrm>
            <a:off x="571500" y="2385119"/>
            <a:ext cx="5143500" cy="868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003F81"/>
                </a:solidFill>
                <a:latin typeface="Inter"/>
                <a:ea typeface="Inter"/>
                <a:cs typeface="Inter"/>
                <a:sym typeface="Inter"/>
              </a:rPr>
              <a:t>Open on your phone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850" b="1" i="0" u="none" strike="noStrike" cap="none">
                <a:solidFill>
                  <a:srgbClr val="003F81"/>
                </a:solidFill>
                <a:latin typeface="Inter"/>
                <a:ea typeface="Inter"/>
                <a:cs typeface="Inter"/>
                <a:sym typeface="Inter"/>
              </a:rPr>
              <a:t> or laptop</a:t>
            </a:r>
            <a:endParaRPr/>
          </a:p>
        </p:txBody>
      </p:sp>
      <p:sp>
        <p:nvSpPr>
          <p:cNvPr id="243" name="Google Shape;243;p21"/>
          <p:cNvSpPr txBox="1"/>
          <p:nvPr/>
        </p:nvSpPr>
        <p:spPr>
          <a:xfrm>
            <a:off x="876300" y="3796600"/>
            <a:ext cx="3667200" cy="3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027DFF"/>
                </a:solidFill>
                <a:latin typeface="Inter"/>
                <a:ea typeface="Inter"/>
                <a:cs typeface="Inter"/>
                <a:sym typeface="Inter"/>
              </a:rPr>
              <a:t>process-feedback.vercel.ap</a:t>
            </a:r>
            <a:r>
              <a:rPr lang="en-US" sz="1950" b="1">
                <a:solidFill>
                  <a:srgbClr val="027DFF"/>
                </a:solidFill>
                <a:latin typeface="Inter"/>
                <a:ea typeface="Inter"/>
                <a:cs typeface="Inter"/>
                <a:sym typeface="Inter"/>
              </a:rPr>
              <a:t>p</a:t>
            </a:r>
            <a:endParaRPr/>
          </a:p>
        </p:txBody>
      </p:sp>
      <p:sp>
        <p:nvSpPr>
          <p:cNvPr id="244" name="Google Shape;244;p21"/>
          <p:cNvSpPr txBox="1"/>
          <p:nvPr/>
        </p:nvSpPr>
        <p:spPr>
          <a:xfrm>
            <a:off x="1000125" y="4901505"/>
            <a:ext cx="4714800" cy="5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213547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1" i="0" u="none" strike="noStrike" cap="none">
                <a:solidFill>
                  <a:srgbClr val="003F81"/>
                </a:solidFill>
                <a:latin typeface="Inter"/>
                <a:ea typeface="Inter"/>
                <a:cs typeface="Inter"/>
                <a:sym typeface="Inter"/>
              </a:rPr>
              <a:t>GitHub Repository: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0" i="0" u="none" strike="noStrike" cap="none">
                <a:solidFill>
                  <a:srgbClr val="213547"/>
                </a:solidFill>
                <a:latin typeface="Inter"/>
                <a:ea typeface="Inter"/>
                <a:cs typeface="Inter"/>
                <a:sym typeface="Inter"/>
              </a:rPr>
              <a:t> /process-feedback</a:t>
            </a:r>
            <a:endParaRPr/>
          </a:p>
        </p:txBody>
      </p:sp>
      <p:pic>
        <p:nvPicPr>
          <p:cNvPr id="245" name="Google Shape;245;p2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4915792"/>
            <a:ext cx="219075" cy="238125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21"/>
          <p:cNvSpPr txBox="1"/>
          <p:nvPr/>
        </p:nvSpPr>
        <p:spPr>
          <a:xfrm>
            <a:off x="571500" y="571500"/>
            <a:ext cx="1160145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50" b="1" i="0" u="none" strike="noStrike" cap="none">
                <a:solidFill>
                  <a:srgbClr val="003F81"/>
                </a:solidFill>
                <a:latin typeface="Inter"/>
                <a:ea typeface="Inter"/>
                <a:cs typeface="Inter"/>
                <a:sym typeface="Inter"/>
              </a:rPr>
              <a:t>Try It Live</a:t>
            </a:r>
            <a:endParaRPr/>
          </a:p>
        </p:txBody>
      </p:sp>
      <p:sp>
        <p:nvSpPr>
          <p:cNvPr id="247" name="Google Shape;247;p21"/>
          <p:cNvSpPr txBox="1"/>
          <p:nvPr/>
        </p:nvSpPr>
        <p:spPr>
          <a:xfrm>
            <a:off x="11715750" y="6381750"/>
            <a:ext cx="9525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88C0F9"/>
                </a:solidFill>
                <a:latin typeface="Inter"/>
                <a:ea typeface="Inter"/>
                <a:cs typeface="Inter"/>
                <a:sym typeface="Inter"/>
              </a:rPr>
              <a:t>9</a:t>
            </a:r>
            <a:endParaRPr/>
          </a:p>
        </p:txBody>
      </p:sp>
      <p:pic>
        <p:nvPicPr>
          <p:cNvPr id="248" name="Google Shape;248;p2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119900" y="2084100"/>
            <a:ext cx="3667199" cy="36041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3" name="Google Shape;253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22"/>
          <p:cNvSpPr/>
          <p:nvPr/>
        </p:nvSpPr>
        <p:spPr>
          <a:xfrm>
            <a:off x="2628900" y="2733675"/>
            <a:ext cx="6934200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22"/>
          <p:cNvSpPr/>
          <p:nvPr/>
        </p:nvSpPr>
        <p:spPr>
          <a:xfrm>
            <a:off x="2628900" y="3505200"/>
            <a:ext cx="6934200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22"/>
          <p:cNvSpPr/>
          <p:nvPr/>
        </p:nvSpPr>
        <p:spPr>
          <a:xfrm>
            <a:off x="2628900" y="3495675"/>
            <a:ext cx="69342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22"/>
          <p:cNvSpPr/>
          <p:nvPr/>
        </p:nvSpPr>
        <p:spPr>
          <a:xfrm>
            <a:off x="2628900" y="3495675"/>
            <a:ext cx="69342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22"/>
          <p:cNvSpPr/>
          <p:nvPr/>
        </p:nvSpPr>
        <p:spPr>
          <a:xfrm>
            <a:off x="2628900" y="4267200"/>
            <a:ext cx="69342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22"/>
          <p:cNvSpPr/>
          <p:nvPr/>
        </p:nvSpPr>
        <p:spPr>
          <a:xfrm>
            <a:off x="2628900" y="4267200"/>
            <a:ext cx="69342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0" name="Google Shape;260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628900" y="2876550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22"/>
          <p:cNvSpPr txBox="1"/>
          <p:nvPr/>
        </p:nvSpPr>
        <p:spPr>
          <a:xfrm>
            <a:off x="3724275" y="2883693"/>
            <a:ext cx="5838825" cy="185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213547"/>
                </a:solidFill>
                <a:latin typeface="Inter"/>
                <a:ea typeface="Inter"/>
                <a:cs typeface="Inter"/>
                <a:sym typeface="Inter"/>
              </a:rPr>
              <a:t>https://welovedevs.com/wp-content/uploads/2024/09/banniere-article-WP-dhiWise.png</a:t>
            </a:r>
            <a:endParaRPr/>
          </a:p>
        </p:txBody>
      </p:sp>
      <p:sp>
        <p:nvSpPr>
          <p:cNvPr id="262" name="Google Shape;262;p22"/>
          <p:cNvSpPr txBox="1"/>
          <p:nvPr/>
        </p:nvSpPr>
        <p:spPr>
          <a:xfrm>
            <a:off x="3724275" y="3117056"/>
            <a:ext cx="583882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213547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welovedevs.com</a:t>
            </a:r>
            <a:endParaRPr/>
          </a:p>
        </p:txBody>
      </p:sp>
      <p:pic>
        <p:nvPicPr>
          <p:cNvPr id="263" name="Google Shape;263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628900" y="364807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22"/>
          <p:cNvSpPr txBox="1"/>
          <p:nvPr/>
        </p:nvSpPr>
        <p:spPr>
          <a:xfrm>
            <a:off x="3724275" y="3655218"/>
            <a:ext cx="5838825" cy="185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213547"/>
                </a:solidFill>
                <a:latin typeface="Inter"/>
                <a:ea typeface="Inter"/>
                <a:cs typeface="Inter"/>
                <a:sym typeface="Inter"/>
              </a:rPr>
              <a:t>https://sstech.us/wp-content/uploads/2022/03/5-Key-Stages-of-Web-Design-1024x683.jpg</a:t>
            </a:r>
            <a:endParaRPr/>
          </a:p>
        </p:txBody>
      </p:sp>
      <p:sp>
        <p:nvSpPr>
          <p:cNvPr id="265" name="Google Shape;265;p22"/>
          <p:cNvSpPr txBox="1"/>
          <p:nvPr/>
        </p:nvSpPr>
        <p:spPr>
          <a:xfrm>
            <a:off x="3724275" y="3888581"/>
            <a:ext cx="583882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213547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sstech.us</a:t>
            </a:r>
            <a:endParaRPr/>
          </a:p>
        </p:txBody>
      </p:sp>
      <p:sp>
        <p:nvSpPr>
          <p:cNvPr id="269" name="Google Shape;269;p22"/>
          <p:cNvSpPr txBox="1"/>
          <p:nvPr/>
        </p:nvSpPr>
        <p:spPr>
          <a:xfrm>
            <a:off x="571500" y="571500"/>
            <a:ext cx="1160145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50" b="1" i="0" u="none" strike="noStrike" cap="none">
                <a:solidFill>
                  <a:srgbClr val="003F81"/>
                </a:solidFill>
                <a:latin typeface="Inter"/>
                <a:ea typeface="Inter"/>
                <a:cs typeface="Inter"/>
                <a:sym typeface="Inter"/>
              </a:rPr>
              <a:t>Image Sources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662</Words>
  <Application>Microsoft Macintosh PowerPoint</Application>
  <PresentationFormat>Widescreen</PresentationFormat>
  <Paragraphs>76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Inter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Bavisetti, Sai (UMSL-Student)</cp:lastModifiedBy>
  <cp:revision>1</cp:revision>
  <dcterms:modified xsi:type="dcterms:W3CDTF">2026-03-31T19:53:18Z</dcterms:modified>
</cp:coreProperties>
</file>